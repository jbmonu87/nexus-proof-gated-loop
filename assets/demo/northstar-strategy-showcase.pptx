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eee71c34364abc" /><Relationship Type="http://schemas.openxmlformats.org/officeDocument/2006/relationships/extended-properties" Target="/docProps/app.xml" Id="R864439236936408d" /><Relationship Type="http://schemas.openxmlformats.org/officeDocument/2006/relationships/officeDocument" Target="/ppt/presentation.xml" Id="Rfa4fbb66a5964d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556e972d4c4a5b"/>
  </p:sldMasterIdLst>
  <p:notesMasterIdLst>
    <p:notesMasterId xmlns:r="http://schemas.openxmlformats.org/officeDocument/2006/relationships" r:id="Rdc8091812f0b417e"/>
  </p:notesMasterIdLst>
  <p:sldIdLst>
    <p:sldId xmlns:r="http://schemas.openxmlformats.org/officeDocument/2006/relationships" id="256" r:id="Rf2e7cc2eacc44173"/>
    <p:sldId xmlns:r="http://schemas.openxmlformats.org/officeDocument/2006/relationships" id="257" r:id="R31a32ca67fd246ba"/>
    <p:sldId xmlns:r="http://schemas.openxmlformats.org/officeDocument/2006/relationships" id="258" r:id="R753daff502c541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4ce725d5c644f2" /><Relationship Type="http://schemas.openxmlformats.org/officeDocument/2006/relationships/slideMaster" Target="/ppt/slideMasters/slideMaster1.xml" Id="R31556e972d4c4a5b" /><Relationship Type="http://schemas.openxmlformats.org/officeDocument/2006/relationships/notesMaster" Target="/ppt/notesMasters/notesMaster1.xml" Id="Rdc8091812f0b417e" /><Relationship Type="http://schemas.openxmlformats.org/officeDocument/2006/relationships/presProps" Target="/ppt/presProps.xml" Id="R627b2e5024d84ad3" /><Relationship Type="http://schemas.openxmlformats.org/officeDocument/2006/relationships/tableStyles" Target="/ppt/tableStyles.xml" Id="R131c27cd525741b2" /><Relationship Type="http://schemas.openxmlformats.org/officeDocument/2006/relationships/slide" Target="/ppt/slides/slide1.xml" Id="Rf2e7cc2eacc44173" /><Relationship Type="http://schemas.openxmlformats.org/officeDocument/2006/relationships/slide" Target="/ppt/slides/slide2.xml" Id="R31a32ca67fd246ba" /><Relationship Type="http://schemas.openxmlformats.org/officeDocument/2006/relationships/slide" Target="/ppt/slides/slide3.xml" Id="R753daff502c541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46abbfd234b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ba70c1a0604444" /><Relationship Type="http://schemas.openxmlformats.org/officeDocument/2006/relationships/notesMaster" Target="/ppt/notesMasters/notesMaster1.xml" Id="R0d0f831467a549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95a79826614cf4" /><Relationship Type="http://schemas.openxmlformats.org/officeDocument/2006/relationships/notesMaster" Target="/ppt/notesMasters/notesMaster1.xml" Id="Rdb1bf064440340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6fddad45dc4b8f" /><Relationship Type="http://schemas.openxmlformats.org/officeDocument/2006/relationships/notesMaster" Target="/ppt/notesMasters/notesMaster1.xml" Id="R3e32f66685ec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company names, inputs, economics and recommendations in this deck are fictional and synthetic. No employer information. Assumptions: 20 sites, 100 monthly visits per site, $500 revenue per visit. Base direct cost 62%, downside 70%. Fixed monthly cost $260,000. Monthly revenue $1,000,000. Base contribution $120,000, downside $40,000. Illustrative analysis, not a real engagement or demonstrated business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company names, inputs, economics and recommendations in this deck are fictional and synthetic. No employer information. Assumptions: 20 sites, 100 monthly visits per site, $500 revenue per visit. Base direct cost 62%, downside 70%. Fixed monthly cost $260,000. Monthly revenue $1,000,000. Base contribution $120,000, downside $40,000. Illustrative analysis, not a real engagement or demonstrated business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company names, inputs, economics and recommendations in this deck are fictional and synthetic. No employer information. Assumptions: 20 sites, 100 monthly visits per site, $500 revenue per visit. Base direct cost 62%, downside 70%. Fixed monthly cost $260,000. Monthly revenue $1,000,000. Base contribution $120,000, downside $40,000. Illustrative analysis, not a real engagement or demonstrated business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29749201c47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4a0d6026274bcb" /><Relationship Type="http://schemas.openxmlformats.org/officeDocument/2006/relationships/slideLayout" Target="/ppt/slideLayouts/slideLayout1.xml" Id="R2eee434ccbe24f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ee434ccbe24f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a653db38f4749" /><Relationship Type="http://schemas.openxmlformats.org/officeDocument/2006/relationships/chart" Target="/ppt/slides/charts/chart1.xml" Id="R7805ba85571e49d0" /><Relationship Type="http://schemas.openxmlformats.org/officeDocument/2006/relationships/notesSlide" Target="/ppt/notesSlides/notesSlide1.xml" Id="Rea618a81345941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b19323fd1467b" /><Relationship Type="http://schemas.openxmlformats.org/officeDocument/2006/relationships/notesSlide" Target="/ppt/notesSlides/notesSlide2.xml" Id="R555addbfc90b4a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d8fbc527a4f17" /><Relationship Type="http://schemas.openxmlformats.org/officeDocument/2006/relationships/notesSlide" Target="/ppt/notesSlides/notesSlide3.xml" Id="Rd901a32c53814ae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Contribution ($000)</c:v>
          </c:tx>
          <c:spPr>
            <a:solidFill xmlns:a="http://schemas.openxmlformats.org/drawingml/2006/main">
              <a:srgbClr val="197F75"/>
            </a:solidFill>
          </c:spPr>
          <c:cat>
            <c:strRef>
              <c:f>'Chart Data'!$A$2:$A$3</c:f>
              <c:strCache>
                <c:ptCount val="2"/>
                <c:pt idx="0">
                  <c:v>Base case</c:v>
                </c:pt>
                <c:pt idx="1">
                  <c:v>Downside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120</c:v>
                </c:pt>
                <c:pt idx="1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63D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48A9D-E91D-40FA-8B3C-5A4DFDAD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7F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F75"/>
                </a:solidFill>
                <a:latin typeface="Arial"/>
                <a:ea typeface="Arial"/>
                <a:cs typeface="Arial"/>
              </a:rPr>
              <a:t>NORTHSTAR FIELD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2A562-D9C2-40CC-87C5-05DEDF95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3D39"/>
                </a:solidFill>
                <a:latin typeface="Arial"/>
                <a:ea typeface="Arial"/>
                <a:cs typeface="Arial"/>
              </a:rPr>
              <a:t>A staged pilot limits the cost of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81781-3057-4D23-B3C7-FA839F34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4"/>
                </a:solidFill>
                <a:latin typeface="Arial"/>
                <a:ea typeface="Arial"/>
                <a:cs typeface="Arial"/>
              </a:rPr>
              <a:t>Fictional company and synthetic data. Demonstration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B736E-F568-4F17-80D5-7067FDF0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DF516-C1B0-4A83-8FA8-14B790C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681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D39"/>
                </a:solidFill>
                <a:latin typeface="Arial"/>
                <a:ea typeface="Arial"/>
                <a:cs typeface="Arial"/>
              </a:rPr>
              <a:t>Monthly contribution at 20 sites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71500" y="2781300"/>
          <a:ext xmlns:a="http://schemas.openxmlformats.org/drawingml/2006/main" cx="7096125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05ba85571e49d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07559-9C39-4156-AE2A-49A2C004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CE6A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CE6A40"/>
                </a:solidFill>
                <a:latin typeface="Arial"/>
                <a:ea typeface="Arial"/>
                <a:cs typeface="Arial"/>
              </a:rPr>
              <a:t>$80k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9E4F2-D086-40B2-B8FC-DAC25D51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4"/>
                </a:solidFill>
                <a:latin typeface="Arial"/>
                <a:ea typeface="Arial"/>
                <a:cs typeface="Arial"/>
              </a:rPr>
              <a:t>monthly exposure to an</a:t>
            </a:r>
          </a:p>
          <a:p xmlns:a="http://schemas.openxmlformats.org/drawingml/2006/main">
            <a:pPr>
              <a:defRPr sz="1875" b="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4"/>
                </a:solidFill>
                <a:latin typeface="Arial"/>
                <a:ea typeface="Arial"/>
                <a:cs typeface="Arial"/>
              </a:rPr>
              <a:t>8-point increase in direct costs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85D72-C47E-4495-A227-2B3551E6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D39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EB58C-61A7-4225-918B-A9AFFE0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38725"/>
            <a:ext cx="3381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Test five sites first.</a:t>
            </a:r>
          </a:p>
          <a:p xmlns:a="http://schemas.openxmlformats.org/drawingml/2006/main">
            <a:pPr>
              <a:defRPr sz="1800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Scale only after field costs</a:t>
            </a:r>
          </a:p>
          <a:p xmlns:a="http://schemas.openxmlformats.org/drawingml/2006/main">
            <a:pPr>
              <a:defRPr sz="1800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and repeat demand hold.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2339B-9D81-4F15-9F10-4B5AABB4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4"/>
                </a:solidFill>
                <a:latin typeface="Arial"/>
                <a:ea typeface="Arial"/>
                <a:cs typeface="Arial"/>
              </a:rPr>
              <a:t>USD thousands per month. Revenue held constant in both cases.</a:t>
            </a:r>
          </a:p>
        </p:txBody>
      </p:sp>
    </p:spTree>
    <p:extLst>
      <p:ext uri="{BB962C8B-B14F-4D97-AF65-F5344CB8AC3E}">
        <p14:creationId xmlns:p14="http://schemas.microsoft.com/office/powerpoint/2010/main" val="967088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FEC4E-8801-4C73-8491-5FD9FA0F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7F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F75"/>
                </a:solidFill>
                <a:latin typeface="Arial"/>
                <a:ea typeface="Arial"/>
                <a:cs typeface="Arial"/>
              </a:rPr>
              <a:t>NORTHSTAR FIELD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FBB32-05A3-43CA-8BBF-124AF45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3D39"/>
                </a:solidFill>
                <a:latin typeface="Arial"/>
                <a:ea typeface="Arial"/>
                <a:cs typeface="Arial"/>
              </a:rPr>
              <a:t>The downside keeps volume steady and raises costs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D6677-AD8C-4EEB-8F13-A9F64747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4"/>
                </a:solidFill>
                <a:latin typeface="Arial"/>
                <a:ea typeface="Arial"/>
                <a:cs typeface="Arial"/>
              </a:rPr>
              <a:t>Fictional company and synthetic data. Demonstration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0B6ED-5262-40FC-9E66-6140EF1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D3B13-E5A1-4EE4-AB2C-A973EC48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97F7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97F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4C874-5C96-4CFB-8EE8-DB00B05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64"/>
                </a:solidFill>
                <a:latin typeface="Arial"/>
                <a:ea typeface="Arial"/>
                <a:cs typeface="Arial"/>
              </a:rPr>
              <a:t>sites in the full-scale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69B0C-39E0-4675-8EA1-108E9B8E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97F7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97F75"/>
                </a:solidFill>
                <a:latin typeface="Arial"/>
                <a:ea typeface="Arial"/>
                <a:cs typeface="Arial"/>
              </a:rPr>
              <a:t>2,000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1A08B-21B2-4B1F-8F06-6AD1B456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64"/>
                </a:solidFill>
                <a:latin typeface="Arial"/>
                <a:ea typeface="Arial"/>
                <a:cs typeface="Arial"/>
              </a:rPr>
              <a:t>visits each 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EAF3A-9521-4E11-8846-099E32D3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97F7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97F75"/>
                </a:solidFill>
                <a:latin typeface="Arial"/>
                <a:ea typeface="Arial"/>
                <a:cs typeface="Arial"/>
              </a:rPr>
              <a:t>$1.0m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29DEF-33CE-46AD-87DA-8E54C2DE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6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64"/>
                </a:solidFill>
                <a:latin typeface="Arial"/>
                <a:ea typeface="Arial"/>
                <a:cs typeface="Arial"/>
              </a:rPr>
              <a:t>monthly 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39D81-71A3-4FD8-ACD5-45BD80E0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D39"/>
                </a:solidFill>
                <a:latin typeface="Arial"/>
                <a:ea typeface="Arial"/>
                <a:cs typeface="Arial"/>
              </a:rPr>
              <a:t>Base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C9352-6EBF-46AA-8F03-A01C4019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62% direct costs</a:t>
            </a:r>
          </a:p>
          <a:p xmlns:a="http://schemas.openxmlformats.org/drawingml/2006/main">
            <a:pPr>
              <a:defRPr sz="1875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$260k fixed costs</a:t>
            </a:r>
          </a:p>
          <a:p xmlns:a="http://schemas.openxmlformats.org/drawingml/2006/main">
            <a:pPr>
              <a:defRPr sz="1875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$120k contribution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76986-B375-4DDF-9219-E694AA03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D39"/>
                </a:solidFill>
                <a:latin typeface="Arial"/>
                <a:ea typeface="Arial"/>
                <a:cs typeface="Arial"/>
              </a:rPr>
              <a:t>Downside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13074-2F1D-42D7-ABDE-91EBDE9E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48225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70% direct costs</a:t>
            </a:r>
          </a:p>
          <a:p xmlns:a="http://schemas.openxmlformats.org/drawingml/2006/main">
            <a:pPr>
              <a:defRPr sz="1875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$260k fixed costs</a:t>
            </a:r>
          </a:p>
          <a:p xmlns:a="http://schemas.openxmlformats.org/drawingml/2006/main">
            <a:pPr>
              <a:defRPr sz="1875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$40k contribution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C4E34-1E2E-4BAB-B615-1173DBA6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D39"/>
                </a:solidFill>
                <a:latin typeface="Arial"/>
                <a:ea typeface="Arial"/>
                <a:cs typeface="Arial"/>
              </a:rPr>
              <a:t>Pilot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FDDE9-8DE4-4916-AA2A-A2D5D275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4822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Actual travel and labor cost</a:t>
            </a:r>
          </a:p>
          <a:p xmlns:a="http://schemas.openxmlformats.org/drawingml/2006/main">
            <a:pPr>
              <a:defRPr sz="1875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Repeat visit demand</a:t>
            </a:r>
          </a:p>
          <a:p xmlns:a="http://schemas.openxmlformats.org/drawingml/2006/main">
            <a:pPr>
              <a:defRPr sz="1875" b="0">
                <a:solidFill>
                  <a:srgbClr val="163D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D39"/>
                </a:solidFill>
                <a:latin typeface="Arial"/>
                <a:ea typeface="Arial"/>
                <a:cs typeface="Arial"/>
              </a:rPr>
              <a:t>Capacity before expansion</a:t>
            </a:r>
          </a:p>
        </p:txBody>
      </p:sp>
    </p:spTree>
    <p:extLst>
      <p:ext uri="{BB962C8B-B14F-4D97-AF65-F5344CB8AC3E}">
        <p14:creationId xmlns:p14="http://schemas.microsoft.com/office/powerpoint/2010/main" val="103180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3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D77A2-90EB-4F9C-8FD6-D1CA754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1DA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1DAD1"/>
                </a:solidFill>
                <a:latin typeface="Arial"/>
                <a:ea typeface="Arial"/>
                <a:cs typeface="Arial"/>
              </a:rPr>
              <a:t>NORTHSTAR FIELD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50ABF-F7A2-4C20-9324-C0B82360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decision needs an inspectable chain of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DA476-7823-4A2E-9C84-D1DEE43A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DA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DAD1"/>
                </a:solidFill>
                <a:latin typeface="Arial"/>
                <a:ea typeface="Arial"/>
                <a:cs typeface="Arial"/>
              </a:rPr>
              <a:t>Fictional company and synthetic data. Demonstration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06911-4463-4190-8D3A-EE4F06E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DA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DA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EFBA8-8B86-4956-A8A4-62450268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43E01-75C4-4FE5-8169-E1523423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1DA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1DAD1"/>
                </a:solidFill>
                <a:latin typeface="Arial"/>
                <a:ea typeface="Arial"/>
                <a:cs typeface="Arial"/>
              </a:rPr>
              <a:t>Which decision matters?</a:t>
            </a:r>
          </a:p>
          <a:p xmlns:a="http://schemas.openxmlformats.org/drawingml/2006/main">
            <a:pPr>
              <a:defRPr sz="1875" b="0">
                <a:solidFill>
                  <a:srgbClr val="B1DA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1DAD1"/>
                </a:solidFill>
                <a:latin typeface="Arial"/>
                <a:ea typeface="Arial"/>
                <a:cs typeface="Arial"/>
              </a:rPr>
              <a:t>What would change it?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ACF07-AA00-474A-A67A-8F224485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Analyze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B4E7E-E02B-4675-94E9-7B1686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1DA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1DAD1"/>
                </a:solidFill>
                <a:latin typeface="Arial"/>
                <a:ea typeface="Arial"/>
                <a:cs typeface="Arial"/>
              </a:rPr>
              <a:t>Make assumptions visible.</a:t>
            </a:r>
          </a:p>
          <a:p xmlns:a="http://schemas.openxmlformats.org/drawingml/2006/main">
            <a:pPr>
              <a:defRPr sz="1875" b="0">
                <a:solidFill>
                  <a:srgbClr val="B1DA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1DAD1"/>
                </a:solidFill>
                <a:latin typeface="Arial"/>
                <a:ea typeface="Arial"/>
                <a:cs typeface="Arial"/>
              </a:rPr>
              <a:t>Calculate the downside.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0B4EE-AEAB-45F5-8236-471F5536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D2BAF-5F88-486D-B7BE-9CB1766E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1DA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1DAD1"/>
                </a:solidFill>
                <a:latin typeface="Arial"/>
                <a:ea typeface="Arial"/>
                <a:cs typeface="Arial"/>
              </a:rPr>
              <a:t>Check units and formulas.</a:t>
            </a:r>
          </a:p>
          <a:p xmlns:a="http://schemas.openxmlformats.org/drawingml/2006/main">
            <a:pPr>
              <a:defRPr sz="1875" b="0">
                <a:solidFill>
                  <a:srgbClr val="B1DA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1DAD1"/>
                </a:solidFill>
                <a:latin typeface="Arial"/>
                <a:ea typeface="Arial"/>
                <a:cs typeface="Arial"/>
              </a:rPr>
              <a:t>Reject unsupported certainty.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E6C31-129D-4576-AE16-BB1818C6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deliverable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9B9E3-D036-45C7-BE8E-B4E7BA43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2922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editable model, a decision memo and a presentation.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person accountable for the decision reviews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433291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2026-10-01T20:02:54.4070000Z</dcterms:created>
  <dcterms:modified xsi:type="dcterms:W3CDTF">2026-10-01T20:02:54.4070000Z</dcterms:modified>
</coreProperties>
</file>