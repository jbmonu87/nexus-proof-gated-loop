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bfa6a986bf4712" /><Relationship Type="http://schemas.openxmlformats.org/officeDocument/2006/relationships/extended-properties" Target="/docProps/app.xml" Id="R7f8b755293564a59" /><Relationship Type="http://schemas.openxmlformats.org/officeDocument/2006/relationships/officeDocument" Target="/ppt/presentation.xml" Id="R0b67729dbe4441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0c290e5804af4"/>
  </p:sldMasterIdLst>
  <p:notesMasterIdLst>
    <p:notesMasterId xmlns:r="http://schemas.openxmlformats.org/officeDocument/2006/relationships" r:id="R995b55fb2da9444e"/>
  </p:notesMasterIdLst>
  <p:sldIdLst>
    <p:sldId xmlns:r="http://schemas.openxmlformats.org/officeDocument/2006/relationships" id="256" r:id="R560ab2e59ac14018"/>
    <p:sldId xmlns:r="http://schemas.openxmlformats.org/officeDocument/2006/relationships" id="257" r:id="Rc57b61589e6348c9"/>
    <p:sldId xmlns:r="http://schemas.openxmlformats.org/officeDocument/2006/relationships" id="258" r:id="R5f0c4f5bed8e435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724c24afa24b6b" /><Relationship Type="http://schemas.openxmlformats.org/officeDocument/2006/relationships/slideMaster" Target="/ppt/slideMasters/slideMaster1.xml" Id="R86e0c290e5804af4" /><Relationship Type="http://schemas.openxmlformats.org/officeDocument/2006/relationships/notesMaster" Target="/ppt/notesMasters/notesMaster1.xml" Id="R995b55fb2da9444e" /><Relationship Type="http://schemas.openxmlformats.org/officeDocument/2006/relationships/presProps" Target="/ppt/presProps.xml" Id="Rf05eb448def340e0" /><Relationship Type="http://schemas.openxmlformats.org/officeDocument/2006/relationships/tableStyles" Target="/ppt/tableStyles.xml" Id="R1bce2bb888924e74" /><Relationship Type="http://schemas.openxmlformats.org/officeDocument/2006/relationships/slide" Target="/ppt/slides/slide1.xml" Id="R560ab2e59ac14018" /><Relationship Type="http://schemas.openxmlformats.org/officeDocument/2006/relationships/slide" Target="/ppt/slides/slide2.xml" Id="Rc57b61589e6348c9" /><Relationship Type="http://schemas.openxmlformats.org/officeDocument/2006/relationships/slide" Target="/ppt/slides/slide3.xml" Id="R5f0c4f5bed8e43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ca59f09b5d4d5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ad9814145b4123" /><Relationship Type="http://schemas.openxmlformats.org/officeDocument/2006/relationships/notesMaster" Target="/ppt/notesMasters/notesMaster1.xml" Id="R0a91b6ea27ae49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c4ba870ac47e9" /><Relationship Type="http://schemas.openxmlformats.org/officeDocument/2006/relationships/notesMaster" Target="/ppt/notesMasters/notesMaster1.xml" Id="Rd4d6386f64b949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427440e620486d" /><Relationship Type="http://schemas.openxmlformats.org/officeDocument/2006/relationships/notesMaster" Target="/ppt/notesMasters/notesMaster1.xml" Id="R6a3e8d77543443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company names, inputs, economics and recommendations in this deck are fictional and synthetic. No employer information. Assumptions: 20 sites, 100 monthly visits per site, $500 revenue per visit. Base direct cost 62%, downside 70%. Fixed monthly cost $260,000. Monthly revenue $1,000,000. Base operating surplus $120,000, downside $40,000. Illustrative analysis, not a real engagement or demonstrated business impact.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company names, inputs, economics and recommendations in this deck are fictional and synthetic. No employer information. Assumptions: 20 sites, 100 monthly visits per site, $500 revenue per visit. Base direct cost 62%, downside 70%. Fixed monthly cost $260,000. Monthly revenue $1,000,000. Base operating surplus $120,000, downside $40,000. Illustrative analysis, not a real engagement or demonstrated business impact.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company names, inputs, economics and recommendations in this deck are fictional and synthetic. No employer information. Assumptions: 20 sites, 100 monthly visits per site, $500 revenue per visit. Base direct cost 62%, downside 70%. Fixed monthly cost $260,000. Monthly revenue $1,000,000. Base operating surplus $120,000, downside $40,000. Illustrative analysis, not a real engagement or demonstrated business impact.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b4378079540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75b2951c494a41" /><Relationship Type="http://schemas.openxmlformats.org/officeDocument/2006/relationships/slideLayout" Target="/ppt/slideLayouts/slideLayout1.xml" Id="Rbc734946f3f549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734946f3f549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a9f7f073940f2" /><Relationship Type="http://schemas.openxmlformats.org/officeDocument/2006/relationships/chart" Target="/ppt/slides/charts/chart1.xml" Id="Rf76cbacb14fa4ba5" /><Relationship Type="http://schemas.openxmlformats.org/officeDocument/2006/relationships/notesSlide" Target="/ppt/notesSlides/notesSlide1.xml" Id="R61f57ae50ca04c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60e0d5b999432a" /><Relationship Type="http://schemas.openxmlformats.org/officeDocument/2006/relationships/notesSlide" Target="/ppt/notesSlides/notesSlide2.xml" Id="Rb0e51ebaa0c543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1bd401b6374ec4" /><Relationship Type="http://schemas.openxmlformats.org/officeDocument/2006/relationships/notesSlide" Target="/ppt/notesSlides/notesSlide3.xml" Id="R39e5159837d7490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Operating surplus ($000)</c:v>
          </c:tx>
          <c:spPr>
            <a:solidFill xmlns:a="http://schemas.openxmlformats.org/drawingml/2006/main">
              <a:srgbClr val="197F75"/>
            </a:solidFill>
          </c:spPr>
          <c:cat>
            <c:strRef>
              <c:f>'Chart Data'!$A$2:$A$3</c:f>
              <c:strCache>
                <c:ptCount val="2"/>
                <c:pt idx="0">
                  <c:v>Base case</c:v>
                </c:pt>
                <c:pt idx="1">
                  <c:v>Downside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120</c:v>
                </c:pt>
                <c:pt idx="1">
                  <c:v>40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163D39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B384C1-0358-4CA7-8E2F-522BCE5D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97F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7F75"/>
                </a:solidFill>
                <a:latin typeface="Arial"/>
                <a:ea typeface="Arial"/>
                <a:cs typeface="Arial"/>
              </a:rPr>
              <a:t>NORTHSTAR FIELD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FC31D-1787-469F-B8C3-BA339E8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A staged pilot limits the cost of uncertainty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F2E4A-A1A3-4987-8488-99932E76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Fictional company and synthetic data. Demonstration only.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D02195-1938-4277-BBB8-36F5FAF6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FA4ADC-96B2-4CAB-AB54-BB6CC7135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6810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Operating surplus at 20 sites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71500" y="2781300"/>
          <a:ext xmlns:a="http://schemas.openxmlformats.org/drawingml/2006/main" cx="709612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76cbacb14fa4ba5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D4B09-A532-4DCD-A6D0-4107782F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324100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CE6A40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CE6A40"/>
                </a:solidFill>
                <a:latin typeface="Arial"/>
                <a:ea typeface="Arial"/>
                <a:cs typeface="Arial"/>
              </a:rPr>
              <a:t>$80k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9F021A-191C-4593-AF48-E065ACDF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33750"/>
            <a:ext cx="328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monthly exposure to an</a:t>
            </a:r>
          </a:p>
          <a:p xmlns:a="http://schemas.openxmlformats.org/drawingml/2006/main">
            <a:pPr>
              <a:defRPr sz="1875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8-point increase in direct costs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47D18-2140-4711-9A4A-DD88E03F1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5720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E6E2B-7F66-4E84-A879-D1C6BC9D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38725"/>
            <a:ext cx="33813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Test five sites first.</a:t>
            </a:r>
          </a:p>
          <a:p xmlns:a="http://schemas.openxmlformats.org/drawingml/2006/main">
            <a:pPr>
              <a:defRPr sz="1800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Scale only after field costs</a:t>
            </a:r>
          </a:p>
          <a:p xmlns:a="http://schemas.openxmlformats.org/drawingml/2006/main">
            <a:pPr>
              <a:defRPr sz="1800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and repeat demand hold.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9CC215-7104-4A30-84D8-048B90B9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6953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USD thousands per month. Revenue held constant in both cases.</a:t>
            </a:r>
          </a:p>
        </p:txBody>
      </p:sp>
    </p:spTree>
    <p:extLst>
      <p:ext uri="{BB962C8B-B14F-4D97-AF65-F5344CB8AC3E}">
        <p14:creationId xmlns:p14="http://schemas.microsoft.com/office/powerpoint/2010/main" val="4621505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8D9A6-413A-40C2-B27F-C80F22984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97F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97F75"/>
                </a:solidFill>
                <a:latin typeface="Arial"/>
                <a:ea typeface="Arial"/>
                <a:cs typeface="Arial"/>
              </a:rPr>
              <a:t>NORTHSTAR FIELD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A4A21-5330-4BDD-961C-F83DBDE31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The downside keeps volume steady and raises costs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8185B-4F6B-41FB-9353-E00B177C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Fictional company and synthetic data. Demonstration only.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E4407E-F52C-4F0A-89FE-35E188F1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9C6A65-4A03-4E14-8802-F545075B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304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97F75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97F7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1B536D-EA5A-45F2-91F8-FE34325D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3095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sites in the full-scale 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7703C-F7CD-4EA7-B608-19BBF1C2A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3714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97F75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97F75"/>
                </a:solidFill>
                <a:latin typeface="Arial"/>
                <a:ea typeface="Arial"/>
                <a:cs typeface="Arial"/>
              </a:rPr>
              <a:t>2,000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83705B-5518-4C9E-837E-294B32B0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71850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visits each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76C90A-4C3D-4593-BD29-1C11A5162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33625"/>
            <a:ext cx="3238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197F75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97F75"/>
                </a:solidFill>
                <a:latin typeface="Arial"/>
                <a:ea typeface="Arial"/>
                <a:cs typeface="Arial"/>
              </a:rPr>
              <a:t>$1.0m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6BD494-DCF8-47A3-B52F-35922284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7185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66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664"/>
                </a:solidFill>
                <a:latin typeface="Arial"/>
                <a:ea typeface="Arial"/>
                <a:cs typeface="Arial"/>
              </a:rPr>
              <a:t>monthly revenue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18860-785E-4099-9EAC-F88718ED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Base case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D8352C-55FB-4835-9D5A-96A64531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482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62% direct costs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$260k fixed costs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$120k operating surplus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95D196-1532-4BE5-8F2C-5E154451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053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Downside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C6688-E2B8-45A1-A92D-BD1C7BB27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8482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70% direct costs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$260k fixed costs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$40k operating surplus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03E31-1E42-4D03-B964-4752F3D0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323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63D39"/>
                </a:solidFill>
                <a:latin typeface="Arial"/>
                <a:ea typeface="Arial"/>
                <a:cs typeface="Arial"/>
              </a:rPr>
              <a:t>Pilot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B5E574-5782-4DD0-A362-771381D7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48225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Actual travel and labor cost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Repeat visit demand</a:t>
            </a:r>
          </a:p>
          <a:p xmlns:a="http://schemas.openxmlformats.org/drawingml/2006/main">
            <a:pPr>
              <a:defRPr sz="1875" b="0">
                <a:solidFill>
                  <a:srgbClr val="163D39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D39"/>
                </a:solidFill>
                <a:latin typeface="Arial"/>
                <a:ea typeface="Arial"/>
                <a:cs typeface="Arial"/>
              </a:rPr>
              <a:t>Capacity before expansion</a:t>
            </a:r>
          </a:p>
        </p:txBody>
      </p:sp>
    </p:spTree>
    <p:extLst>
      <p:ext uri="{BB962C8B-B14F-4D97-AF65-F5344CB8AC3E}">
        <p14:creationId xmlns:p14="http://schemas.microsoft.com/office/powerpoint/2010/main" val="8575038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63D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A1A5C-9C1C-42F6-8974-9A3316598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B1DAD1"/>
                </a:solidFill>
                <a:latin typeface="Arial"/>
                <a:ea typeface="Arial"/>
                <a:cs typeface="Arial"/>
              </a:rPr>
              <a:t>NORTHSTAR FIELD SERVICES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7F3983-EBA3-4C31-871A-F957FEE5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76300"/>
            <a:ext cx="1104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decision needs an inspectable chain of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D8006-163D-4BB5-B2BD-4B3D0B36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8650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Fictional company and synthetic data. Demonstration only.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7F691-6275-44F2-99CD-E1C38C8AE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286500"/>
            <a:ext cx="66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902665-8F2D-4FF4-8CAD-B4552F8E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247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  Frame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AD43D0-04D7-4CA3-8507-ED89CA784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Which decision matters?</a:t>
            </a:r>
          </a:p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What would change it?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B4D9B-6EDB-4017-B415-60810C84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76500"/>
            <a:ext cx="295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  Analyze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FBF6E-AC50-429F-A2C6-AFAEB1800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Make assumptions visible.</a:t>
            </a:r>
          </a:p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Calculate the downside.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6C3EC0-B47C-430D-8416-AF659F19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  Challenge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031127-9ADE-4873-BAD5-1F729B8A5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48000"/>
            <a:ext cx="323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Check units and formulas.</a:t>
            </a:r>
          </a:p>
          <a:p xmlns:a="http://schemas.openxmlformats.org/drawingml/2006/main">
            <a:pPr>
              <a:defRPr sz="1875" b="0">
                <a:solidFill>
                  <a:srgbClr val="B1DAD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B1DAD1"/>
                </a:solidFill>
                <a:latin typeface="Arial"/>
                <a:ea typeface="Arial"/>
                <a:cs typeface="Arial"/>
              </a:rPr>
              <a:t>Reject unsupported certainty.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855996-D397-4A5C-AD62-B9B4874C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deliverable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E37CFE-C0CB-494D-947D-69428B7F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922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editable model, a decision memo and a presentation.</a:t>
            </a:r>
          </a:p>
          <a:p xmlns:a="http://schemas.openxmlformats.org/drawingml/2006/main">
            <a: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person accountable for the decision reviews the evidence.</a:t>
            </a:r>
          </a:p>
        </p:txBody>
      </p:sp>
    </p:spTree>
    <p:extLst>
      <p:ext uri="{BB962C8B-B14F-4D97-AF65-F5344CB8AC3E}">
        <p14:creationId xmlns:p14="http://schemas.microsoft.com/office/powerpoint/2010/main" val="889083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2026-10-01T20:32:55.3600000Z</dcterms:created>
  <dcterms:modified xsi:type="dcterms:W3CDTF">2026-10-01T20:32:55.3600000Z</dcterms:modified>
</coreProperties>
</file>